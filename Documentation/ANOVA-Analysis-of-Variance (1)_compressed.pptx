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Roboto Medium"/>
      <p:regular r:id="rId17"/>
    </p:embeddedFont>
    <p:embeddedFont>
      <p:font typeface="Roboto Medium"/>
      <p:regular r:id="rId18"/>
    </p:embeddedFont>
    <p:embeddedFont>
      <p:font typeface="Roboto Medium"/>
      <p:regular r:id="rId19"/>
    </p:embeddedFont>
    <p:embeddedFont>
      <p:font typeface="Roboto Medium"/>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30881"/>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ANOVA (Analysis of Variance)</a:t>
            </a:r>
            <a:endParaRPr lang="en-US" sz="4450" dirty="0"/>
          </a:p>
        </p:txBody>
      </p:sp>
      <p:sp>
        <p:nvSpPr>
          <p:cNvPr id="4" name="Text 1"/>
          <p:cNvSpPr/>
          <p:nvPr/>
        </p:nvSpPr>
        <p:spPr>
          <a:xfrm>
            <a:off x="793790" y="308860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Statistical Method for Comparing Means Across Multiple Groups</a:t>
            </a:r>
            <a:endParaRPr lang="en-US" sz="1750" dirty="0"/>
          </a:p>
        </p:txBody>
      </p:sp>
      <p:sp>
        <p:nvSpPr>
          <p:cNvPr id="5" name="Text 2"/>
          <p:cNvSpPr/>
          <p:nvPr/>
        </p:nvSpPr>
        <p:spPr>
          <a:xfrm>
            <a:off x="793790" y="3706654"/>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Group Members:</a:t>
            </a:r>
            <a:endParaRPr lang="en-US" sz="1750" dirty="0"/>
          </a:p>
        </p:txBody>
      </p:sp>
      <p:sp>
        <p:nvSpPr>
          <p:cNvPr id="6" name="Text 3"/>
          <p:cNvSpPr/>
          <p:nvPr/>
        </p:nvSpPr>
        <p:spPr>
          <a:xfrm>
            <a:off x="793790" y="4324707"/>
            <a:ext cx="7556421" cy="2573893"/>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Sujal Patil – 25101B2001</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Adarsh Rasal – 25101B2002</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Vibhas Kadam – 25101B2003</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Vedant Sakpal – 25101B2004</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Bhushan Avhad – 25101B2006</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Shreedhar Khorate – 25101B2007</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59722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What is ANOVA?</a:t>
            </a:r>
            <a:endParaRPr lang="en-US" sz="4450" dirty="0"/>
          </a:p>
        </p:txBody>
      </p:sp>
      <p:sp>
        <p:nvSpPr>
          <p:cNvPr id="4" name="Text 1"/>
          <p:cNvSpPr/>
          <p:nvPr/>
        </p:nvSpPr>
        <p:spPr>
          <a:xfrm>
            <a:off x="793790" y="287297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Medium" pitchFamily="34" charset="0"/>
                <a:ea typeface="Roboto Medium" pitchFamily="34" charset="-122"/>
                <a:cs typeface="Roboto Medium" pitchFamily="34" charset="-120"/>
              </a:rPr>
              <a:t>Definition</a:t>
            </a:r>
            <a:endParaRPr lang="en-US" sz="2650" dirty="0"/>
          </a:p>
        </p:txBody>
      </p:sp>
      <p:sp>
        <p:nvSpPr>
          <p:cNvPr id="5" name="Text 2"/>
          <p:cNvSpPr/>
          <p:nvPr/>
        </p:nvSpPr>
        <p:spPr>
          <a:xfrm>
            <a:off x="793790" y="3525083"/>
            <a:ext cx="3501509" cy="290322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ANOVA is a statistical method that tests whether there are significant differences between the means of three or more groups. It helps researchers determine if observed differences are due to actual treatment effects or just random variation.</a:t>
            </a:r>
            <a:endParaRPr lang="en-US" sz="1750" dirty="0"/>
          </a:p>
        </p:txBody>
      </p:sp>
      <p:sp>
        <p:nvSpPr>
          <p:cNvPr id="6" name="Text 3"/>
          <p:cNvSpPr/>
          <p:nvPr/>
        </p:nvSpPr>
        <p:spPr>
          <a:xfrm>
            <a:off x="4856321" y="287297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Medium" pitchFamily="34" charset="0"/>
                <a:ea typeface="Roboto Medium" pitchFamily="34" charset="-122"/>
                <a:cs typeface="Roboto Medium" pitchFamily="34" charset="-120"/>
              </a:rPr>
              <a:t>Key Purpose</a:t>
            </a:r>
            <a:endParaRPr lang="en-US" sz="2650" dirty="0"/>
          </a:p>
        </p:txBody>
      </p:sp>
      <p:sp>
        <p:nvSpPr>
          <p:cNvPr id="7" name="Text 4"/>
          <p:cNvSpPr/>
          <p:nvPr/>
        </p:nvSpPr>
        <p:spPr>
          <a:xfrm>
            <a:off x="4856321" y="3525083"/>
            <a:ext cx="3501509" cy="269890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Compare means across multiple groups simultaneously</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Avoid multiple t-tests which increase error risk</a:t>
            </a:r>
            <a:endParaRPr lang="en-US" sz="1750" dirty="0"/>
          </a:p>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Identify if at least one group differs significantly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65434"/>
            <a:ext cx="6590586"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When Do We Use ANOVA?</a:t>
            </a:r>
            <a:endParaRPr lang="en-US" sz="4450" dirty="0"/>
          </a:p>
        </p:txBody>
      </p:sp>
      <p:sp>
        <p:nvSpPr>
          <p:cNvPr id="3" name="Shape 1"/>
          <p:cNvSpPr/>
          <p:nvPr/>
        </p:nvSpPr>
        <p:spPr>
          <a:xfrm>
            <a:off x="793790" y="2727841"/>
            <a:ext cx="4196358" cy="2955250"/>
          </a:xfrm>
          <a:prstGeom prst="roundRect">
            <a:avLst>
              <a:gd name="adj" fmla="val 3224"/>
            </a:avLst>
          </a:prstGeom>
          <a:solidFill>
            <a:srgbClr val="182567"/>
          </a:solidFill>
          <a:ln w="7620">
            <a:solidFill>
              <a:srgbClr val="313E80"/>
            </a:solidFill>
            <a:prstDash val="solid"/>
          </a:ln>
        </p:spPr>
      </p:sp>
      <p:sp>
        <p:nvSpPr>
          <p:cNvPr id="4" name="Shape 2"/>
          <p:cNvSpPr/>
          <p:nvPr/>
        </p:nvSpPr>
        <p:spPr>
          <a:xfrm>
            <a:off x="1028224" y="2962275"/>
            <a:ext cx="680442" cy="680442"/>
          </a:xfrm>
          <a:prstGeom prst="roundRect">
            <a:avLst>
              <a:gd name="adj" fmla="val 13436980"/>
            </a:avLst>
          </a:prstGeom>
          <a:solidFill>
            <a:srgbClr val="5A6ED8"/>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5390" y="3149322"/>
            <a:ext cx="306110" cy="306110"/>
          </a:xfrm>
          <a:prstGeom prst="rect">
            <a:avLst/>
          </a:prstGeom>
        </p:spPr>
      </p:pic>
      <p:sp>
        <p:nvSpPr>
          <p:cNvPr id="6" name="Text 3"/>
          <p:cNvSpPr/>
          <p:nvPr/>
        </p:nvSpPr>
        <p:spPr>
          <a:xfrm>
            <a:off x="1028224" y="386953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Research Studies</a:t>
            </a:r>
            <a:endParaRPr lang="en-US" sz="2200" dirty="0"/>
          </a:p>
        </p:txBody>
      </p:sp>
      <p:sp>
        <p:nvSpPr>
          <p:cNvPr id="7" name="Text 4"/>
          <p:cNvSpPr/>
          <p:nvPr/>
        </p:nvSpPr>
        <p:spPr>
          <a:xfrm>
            <a:off x="1028224" y="4359950"/>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Comparing effectiveness of different treatments, drugs, or experimental conditions in scientific research</a:t>
            </a:r>
            <a:endParaRPr lang="en-US" sz="1750" dirty="0"/>
          </a:p>
        </p:txBody>
      </p:sp>
      <p:sp>
        <p:nvSpPr>
          <p:cNvPr id="8" name="Shape 5"/>
          <p:cNvSpPr/>
          <p:nvPr/>
        </p:nvSpPr>
        <p:spPr>
          <a:xfrm>
            <a:off x="5216962" y="2727841"/>
            <a:ext cx="4196358" cy="2955250"/>
          </a:xfrm>
          <a:prstGeom prst="roundRect">
            <a:avLst>
              <a:gd name="adj" fmla="val 3224"/>
            </a:avLst>
          </a:prstGeom>
          <a:solidFill>
            <a:srgbClr val="182567"/>
          </a:solidFill>
          <a:ln w="7620">
            <a:solidFill>
              <a:srgbClr val="313E80"/>
            </a:solidFill>
            <a:prstDash val="solid"/>
          </a:ln>
        </p:spPr>
      </p:sp>
      <p:sp>
        <p:nvSpPr>
          <p:cNvPr id="9" name="Shape 6"/>
          <p:cNvSpPr/>
          <p:nvPr/>
        </p:nvSpPr>
        <p:spPr>
          <a:xfrm>
            <a:off x="5451396" y="2962275"/>
            <a:ext cx="680442" cy="680442"/>
          </a:xfrm>
          <a:prstGeom prst="roundRect">
            <a:avLst>
              <a:gd name="adj" fmla="val 13436980"/>
            </a:avLst>
          </a:prstGeom>
          <a:solidFill>
            <a:srgbClr val="5A6ED8"/>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562" y="3149322"/>
            <a:ext cx="306110" cy="306110"/>
          </a:xfrm>
          <a:prstGeom prst="rect">
            <a:avLst/>
          </a:prstGeom>
        </p:spPr>
      </p:pic>
      <p:sp>
        <p:nvSpPr>
          <p:cNvPr id="11" name="Text 7"/>
          <p:cNvSpPr/>
          <p:nvPr/>
        </p:nvSpPr>
        <p:spPr>
          <a:xfrm>
            <a:off x="5451396" y="386953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Business Analysis</a:t>
            </a:r>
            <a:endParaRPr lang="en-US" sz="2200" dirty="0"/>
          </a:p>
        </p:txBody>
      </p:sp>
      <p:sp>
        <p:nvSpPr>
          <p:cNvPr id="12" name="Text 8"/>
          <p:cNvSpPr/>
          <p:nvPr/>
        </p:nvSpPr>
        <p:spPr>
          <a:xfrm>
            <a:off x="5451396" y="4359950"/>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Testing performance across different marketing strategies, product versions, or store locations</a:t>
            </a:r>
            <a:endParaRPr lang="en-US" sz="1750" dirty="0"/>
          </a:p>
        </p:txBody>
      </p:sp>
      <p:sp>
        <p:nvSpPr>
          <p:cNvPr id="13" name="Shape 9"/>
          <p:cNvSpPr/>
          <p:nvPr/>
        </p:nvSpPr>
        <p:spPr>
          <a:xfrm>
            <a:off x="9640133" y="2727841"/>
            <a:ext cx="4196358" cy="2955250"/>
          </a:xfrm>
          <a:prstGeom prst="roundRect">
            <a:avLst>
              <a:gd name="adj" fmla="val 3224"/>
            </a:avLst>
          </a:prstGeom>
          <a:solidFill>
            <a:srgbClr val="182567"/>
          </a:solidFill>
          <a:ln w="7620">
            <a:solidFill>
              <a:srgbClr val="313E80"/>
            </a:solidFill>
            <a:prstDash val="solid"/>
          </a:ln>
        </p:spPr>
      </p:sp>
      <p:sp>
        <p:nvSpPr>
          <p:cNvPr id="14" name="Shape 10"/>
          <p:cNvSpPr/>
          <p:nvPr/>
        </p:nvSpPr>
        <p:spPr>
          <a:xfrm>
            <a:off x="9874568" y="2962275"/>
            <a:ext cx="680442" cy="680442"/>
          </a:xfrm>
          <a:prstGeom prst="roundRect">
            <a:avLst>
              <a:gd name="adj" fmla="val 13436980"/>
            </a:avLst>
          </a:prstGeom>
          <a:solidFill>
            <a:srgbClr val="5A6ED8"/>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61734" y="3149322"/>
            <a:ext cx="306110" cy="306110"/>
          </a:xfrm>
          <a:prstGeom prst="rect">
            <a:avLst/>
          </a:prstGeom>
        </p:spPr>
      </p:pic>
      <p:sp>
        <p:nvSpPr>
          <p:cNvPr id="16" name="Text 11"/>
          <p:cNvSpPr/>
          <p:nvPr/>
        </p:nvSpPr>
        <p:spPr>
          <a:xfrm>
            <a:off x="9874568" y="386953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Educational Research</a:t>
            </a:r>
            <a:endParaRPr lang="en-US" sz="2200" dirty="0"/>
          </a:p>
        </p:txBody>
      </p:sp>
      <p:sp>
        <p:nvSpPr>
          <p:cNvPr id="17" name="Text 12"/>
          <p:cNvSpPr/>
          <p:nvPr/>
        </p:nvSpPr>
        <p:spPr>
          <a:xfrm>
            <a:off x="9874568" y="4359950"/>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Evaluating different teaching methods, curriculum designs, or learning interventions</a:t>
            </a:r>
            <a:endParaRPr lang="en-US" sz="1750" dirty="0"/>
          </a:p>
        </p:txBody>
      </p:sp>
      <p:sp>
        <p:nvSpPr>
          <p:cNvPr id="18" name="Text 13"/>
          <p:cNvSpPr/>
          <p:nvPr/>
        </p:nvSpPr>
        <p:spPr>
          <a:xfrm>
            <a:off x="793790" y="593824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ANOVA is ideal when you have </a:t>
            </a:r>
            <a:pPr algn="l" indent="0" marL="0">
              <a:lnSpc>
                <a:spcPts val="2850"/>
              </a:lnSpc>
              <a:buNone/>
            </a:pPr>
            <a:r>
              <a:rPr lang="en-US" sz="1750" b="1" dirty="0">
                <a:solidFill>
                  <a:srgbClr val="5A6ED8"/>
                </a:solidFill>
                <a:latin typeface="Roboto" pitchFamily="34" charset="0"/>
                <a:ea typeface="Roboto" pitchFamily="34" charset="-122"/>
                <a:cs typeface="Roboto" pitchFamily="34" charset="-120"/>
              </a:rPr>
              <a:t>one categorical independent variable</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(like treatment type) and </a:t>
            </a:r>
            <a:pPr algn="l" indent="0" marL="0">
              <a:lnSpc>
                <a:spcPts val="2850"/>
              </a:lnSpc>
              <a:buNone/>
            </a:pPr>
            <a:r>
              <a:rPr lang="en-US" sz="1750" b="1" dirty="0">
                <a:solidFill>
                  <a:srgbClr val="5A6ED8"/>
                </a:solidFill>
                <a:latin typeface="Roboto" pitchFamily="34" charset="0"/>
                <a:ea typeface="Roboto" pitchFamily="34" charset="-122"/>
                <a:cs typeface="Roboto" pitchFamily="34" charset="-120"/>
              </a:rPr>
              <a:t>one quantitative dependent variable</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(like test scores or measurements).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6686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Understanding the Basic Concept</a:t>
            </a:r>
            <a:endParaRPr lang="en-US" sz="4450" dirty="0"/>
          </a:p>
        </p:txBody>
      </p:sp>
      <p:sp>
        <p:nvSpPr>
          <p:cNvPr id="4" name="Text 1"/>
          <p:cNvSpPr/>
          <p:nvPr/>
        </p:nvSpPr>
        <p:spPr>
          <a:xfrm>
            <a:off x="793790" y="242458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Light" pitchFamily="34" charset="0"/>
                <a:ea typeface="Roboto Light" pitchFamily="34" charset="-122"/>
                <a:cs typeface="Roboto Light" pitchFamily="34" charset="-120"/>
              </a:rPr>
              <a:t>01</a:t>
            </a:r>
            <a:endParaRPr lang="en-US" sz="1750" dirty="0"/>
          </a:p>
        </p:txBody>
      </p:sp>
      <p:sp>
        <p:nvSpPr>
          <p:cNvPr id="5" name="Shape 2"/>
          <p:cNvSpPr/>
          <p:nvPr/>
        </p:nvSpPr>
        <p:spPr>
          <a:xfrm>
            <a:off x="793790" y="2779633"/>
            <a:ext cx="3664744" cy="30480"/>
          </a:xfrm>
          <a:prstGeom prst="rect">
            <a:avLst/>
          </a:prstGeom>
          <a:solidFill>
            <a:srgbClr val="5A6ED8"/>
          </a:solidFill>
          <a:ln/>
        </p:spPr>
      </p:sp>
      <p:sp>
        <p:nvSpPr>
          <p:cNvPr id="6" name="Text 3"/>
          <p:cNvSpPr/>
          <p:nvPr/>
        </p:nvSpPr>
        <p:spPr>
          <a:xfrm>
            <a:off x="793790" y="2953941"/>
            <a:ext cx="3630454"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Categorical Variable (Factor)</a:t>
            </a:r>
            <a:endParaRPr lang="en-US" sz="2200" dirty="0"/>
          </a:p>
        </p:txBody>
      </p:sp>
      <p:sp>
        <p:nvSpPr>
          <p:cNvPr id="7" name="Text 4"/>
          <p:cNvSpPr/>
          <p:nvPr/>
        </p:nvSpPr>
        <p:spPr>
          <a:xfrm>
            <a:off x="793790" y="3444359"/>
            <a:ext cx="3664744"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 grouping variable with different levels or categories (e.g., Treatment A, Treatment B, Placebo)</a:t>
            </a:r>
            <a:endParaRPr lang="en-US" sz="1750" dirty="0"/>
          </a:p>
        </p:txBody>
      </p:sp>
      <p:sp>
        <p:nvSpPr>
          <p:cNvPr id="8" name="Text 5"/>
          <p:cNvSpPr/>
          <p:nvPr/>
        </p:nvSpPr>
        <p:spPr>
          <a:xfrm>
            <a:off x="4685348" y="242458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Light" pitchFamily="34" charset="0"/>
                <a:ea typeface="Roboto Light" pitchFamily="34" charset="-122"/>
                <a:cs typeface="Roboto Light" pitchFamily="34" charset="-120"/>
              </a:rPr>
              <a:t>02</a:t>
            </a:r>
            <a:endParaRPr lang="en-US" sz="1750" dirty="0"/>
          </a:p>
        </p:txBody>
      </p:sp>
      <p:sp>
        <p:nvSpPr>
          <p:cNvPr id="9" name="Shape 6"/>
          <p:cNvSpPr/>
          <p:nvPr/>
        </p:nvSpPr>
        <p:spPr>
          <a:xfrm>
            <a:off x="4685348" y="2779633"/>
            <a:ext cx="3664863" cy="30480"/>
          </a:xfrm>
          <a:prstGeom prst="rect">
            <a:avLst/>
          </a:prstGeom>
          <a:solidFill>
            <a:srgbClr val="5A6ED8"/>
          </a:solidFill>
          <a:ln/>
        </p:spPr>
      </p:sp>
      <p:sp>
        <p:nvSpPr>
          <p:cNvPr id="10" name="Text 7"/>
          <p:cNvSpPr/>
          <p:nvPr/>
        </p:nvSpPr>
        <p:spPr>
          <a:xfrm>
            <a:off x="4685348" y="2953941"/>
            <a:ext cx="3664863" cy="708660"/>
          </a:xfrm>
          <a:prstGeom prst="rect">
            <a:avLst/>
          </a:prstGeom>
          <a:noFill/>
          <a:ln/>
        </p:spPr>
        <p:txBody>
          <a:bodyPr wrap="squar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Quantitative Variable (Response)</a:t>
            </a:r>
            <a:endParaRPr lang="en-US" sz="2200" dirty="0"/>
          </a:p>
        </p:txBody>
      </p:sp>
      <p:sp>
        <p:nvSpPr>
          <p:cNvPr id="11" name="Text 8"/>
          <p:cNvSpPr/>
          <p:nvPr/>
        </p:nvSpPr>
        <p:spPr>
          <a:xfrm>
            <a:off x="4685348" y="3798689"/>
            <a:ext cx="3664863"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 measurement being compared across all groups (e.g., patient recovery time, test scores, sales figures)</a:t>
            </a:r>
            <a:endParaRPr lang="en-US" sz="1750" dirty="0"/>
          </a:p>
        </p:txBody>
      </p:sp>
      <p:sp>
        <p:nvSpPr>
          <p:cNvPr id="12" name="Text 9"/>
          <p:cNvSpPr/>
          <p:nvPr/>
        </p:nvSpPr>
        <p:spPr>
          <a:xfrm>
            <a:off x="793790" y="5647134"/>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Light" pitchFamily="34" charset="0"/>
                <a:ea typeface="Roboto Light" pitchFamily="34" charset="-122"/>
                <a:cs typeface="Roboto Light" pitchFamily="34" charset="-120"/>
              </a:rPr>
              <a:t>03</a:t>
            </a:r>
            <a:endParaRPr lang="en-US" sz="1750" dirty="0"/>
          </a:p>
        </p:txBody>
      </p:sp>
      <p:sp>
        <p:nvSpPr>
          <p:cNvPr id="13" name="Shape 10"/>
          <p:cNvSpPr/>
          <p:nvPr/>
        </p:nvSpPr>
        <p:spPr>
          <a:xfrm>
            <a:off x="793790" y="6002179"/>
            <a:ext cx="7556421" cy="30480"/>
          </a:xfrm>
          <a:prstGeom prst="rect">
            <a:avLst/>
          </a:prstGeom>
          <a:solidFill>
            <a:srgbClr val="5A6ED8"/>
          </a:solidFill>
          <a:ln/>
        </p:spPr>
      </p:sp>
      <p:sp>
        <p:nvSpPr>
          <p:cNvPr id="14" name="Text 11"/>
          <p:cNvSpPr/>
          <p:nvPr/>
        </p:nvSpPr>
        <p:spPr>
          <a:xfrm>
            <a:off x="793790" y="617648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Group Comparison</a:t>
            </a:r>
            <a:endParaRPr lang="en-US" sz="2200" dirty="0"/>
          </a:p>
        </p:txBody>
      </p:sp>
      <p:sp>
        <p:nvSpPr>
          <p:cNvPr id="15" name="Text 12"/>
          <p:cNvSpPr/>
          <p:nvPr/>
        </p:nvSpPr>
        <p:spPr>
          <a:xfrm>
            <a:off x="793790" y="6666905"/>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ANOVA examines whether the group means differ significantly while accounting for within-group variability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95226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Hypotheses in ANOVA</a:t>
            </a:r>
            <a:endParaRPr lang="en-US" sz="4450" dirty="0"/>
          </a:p>
        </p:txBody>
      </p:sp>
      <p:sp>
        <p:nvSpPr>
          <p:cNvPr id="3" name="Shape 1"/>
          <p:cNvSpPr/>
          <p:nvPr/>
        </p:nvSpPr>
        <p:spPr>
          <a:xfrm>
            <a:off x="793790" y="3114675"/>
            <a:ext cx="6407944" cy="3162657"/>
          </a:xfrm>
          <a:prstGeom prst="roundRect">
            <a:avLst>
              <a:gd name="adj" fmla="val 4626"/>
            </a:avLst>
          </a:prstGeom>
          <a:solidFill>
            <a:srgbClr val="000018">
              <a:alpha val="95000"/>
            </a:srgbClr>
          </a:solidFill>
          <a:ln w="30480">
            <a:solidFill>
              <a:srgbClr val="243799"/>
            </a:solidFill>
            <a:prstDash val="solid"/>
          </a:ln>
        </p:spPr>
      </p:sp>
      <p:sp>
        <p:nvSpPr>
          <p:cNvPr id="4" name="Shape 2"/>
          <p:cNvSpPr/>
          <p:nvPr/>
        </p:nvSpPr>
        <p:spPr>
          <a:xfrm>
            <a:off x="763310" y="3114675"/>
            <a:ext cx="121920" cy="3162657"/>
          </a:xfrm>
          <a:prstGeom prst="roundRect">
            <a:avLst>
              <a:gd name="adj" fmla="val 78139"/>
            </a:avLst>
          </a:prstGeom>
          <a:solidFill>
            <a:srgbClr val="243799"/>
          </a:solidFill>
          <a:ln/>
        </p:spPr>
      </p:sp>
      <p:sp>
        <p:nvSpPr>
          <p:cNvPr id="5" name="Text 3"/>
          <p:cNvSpPr/>
          <p:nvPr/>
        </p:nvSpPr>
        <p:spPr>
          <a:xfrm>
            <a:off x="1142524" y="337196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CFD0D8"/>
                </a:solidFill>
                <a:latin typeface="Roboto Medium" pitchFamily="34" charset="0"/>
                <a:ea typeface="Roboto Medium" pitchFamily="34" charset="-122"/>
                <a:cs typeface="Roboto Medium" pitchFamily="34" charset="-120"/>
              </a:rPr>
              <a:t>Null Hypothesis (H₀)</a:t>
            </a:r>
            <a:endParaRPr lang="en-US" sz="2650" dirty="0"/>
          </a:p>
        </p:txBody>
      </p:sp>
      <p:sp>
        <p:nvSpPr>
          <p:cNvPr id="6" name="Text 4"/>
          <p:cNvSpPr/>
          <p:nvPr/>
        </p:nvSpPr>
        <p:spPr>
          <a:xfrm>
            <a:off x="1142524" y="3933349"/>
            <a:ext cx="5801916"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All group means are equal</a:t>
            </a:r>
            <a:endParaRPr lang="en-US" sz="1750" dirty="0"/>
          </a:p>
        </p:txBody>
      </p:sp>
      <p:sp>
        <p:nvSpPr>
          <p:cNvPr id="7" name="Text 5"/>
          <p:cNvSpPr/>
          <p:nvPr/>
        </p:nvSpPr>
        <p:spPr>
          <a:xfrm>
            <a:off x="1142524" y="4432340"/>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There is no significant difference between the means of the groups being compared. Any observed differences are due to random chance or sampling variability.</a:t>
            </a:r>
            <a:endParaRPr lang="en-US" sz="1750" dirty="0"/>
          </a:p>
        </p:txBody>
      </p:sp>
      <p:sp>
        <p:nvSpPr>
          <p:cNvPr id="8" name="Text 6"/>
          <p:cNvSpPr/>
          <p:nvPr/>
        </p:nvSpPr>
        <p:spPr>
          <a:xfrm>
            <a:off x="1142524" y="5657136"/>
            <a:ext cx="5801916" cy="362903"/>
          </a:xfrm>
          <a:prstGeom prst="rect">
            <a:avLst/>
          </a:prstGeom>
          <a:noFill/>
          <a:ln/>
        </p:spPr>
        <p:txBody>
          <a:bodyPr wrap="none" lIns="0" tIns="0" rIns="0" bIns="0" rtlCol="0" anchor="t"/>
          <a:lstStyle/>
          <a:p>
            <a:pPr algn="l" indent="0" marL="0">
              <a:lnSpc>
                <a:spcPts val="2850"/>
              </a:lnSpc>
              <a:buNone/>
            </a:pPr>
            <a:r>
              <a:rPr lang="en-US" sz="1750" i="1" dirty="0">
                <a:solidFill>
                  <a:srgbClr val="CFD0D8"/>
                </a:solidFill>
                <a:latin typeface="Roboto" pitchFamily="34" charset="0"/>
                <a:ea typeface="Roboto" pitchFamily="34" charset="-122"/>
                <a:cs typeface="Roboto" pitchFamily="34" charset="-120"/>
              </a:rPr>
              <a:t>Example: μ₁ = μ₂ = μ₃</a:t>
            </a:r>
            <a:endParaRPr lang="en-US" sz="1750" dirty="0"/>
          </a:p>
        </p:txBody>
      </p:sp>
      <p:sp>
        <p:nvSpPr>
          <p:cNvPr id="9" name="Shape 7"/>
          <p:cNvSpPr/>
          <p:nvPr/>
        </p:nvSpPr>
        <p:spPr>
          <a:xfrm>
            <a:off x="7428548" y="3114675"/>
            <a:ext cx="6408063" cy="3162657"/>
          </a:xfrm>
          <a:prstGeom prst="roundRect">
            <a:avLst>
              <a:gd name="adj" fmla="val 4626"/>
            </a:avLst>
          </a:prstGeom>
          <a:solidFill>
            <a:srgbClr val="000018">
              <a:alpha val="95000"/>
            </a:srgbClr>
          </a:solidFill>
          <a:ln w="30480">
            <a:solidFill>
              <a:srgbClr val="5A6ED8"/>
            </a:solidFill>
            <a:prstDash val="solid"/>
          </a:ln>
        </p:spPr>
      </p:sp>
      <p:sp>
        <p:nvSpPr>
          <p:cNvPr id="10" name="Shape 8"/>
          <p:cNvSpPr/>
          <p:nvPr/>
        </p:nvSpPr>
        <p:spPr>
          <a:xfrm>
            <a:off x="7398067" y="3114675"/>
            <a:ext cx="121920" cy="3162657"/>
          </a:xfrm>
          <a:prstGeom prst="roundRect">
            <a:avLst>
              <a:gd name="adj" fmla="val 78139"/>
            </a:avLst>
          </a:prstGeom>
          <a:solidFill>
            <a:srgbClr val="5A6ED8"/>
          </a:solidFill>
          <a:ln/>
        </p:spPr>
      </p:sp>
      <p:sp>
        <p:nvSpPr>
          <p:cNvPr id="11" name="Text 9"/>
          <p:cNvSpPr/>
          <p:nvPr/>
        </p:nvSpPr>
        <p:spPr>
          <a:xfrm>
            <a:off x="7777282" y="3371969"/>
            <a:ext cx="4134207" cy="425291"/>
          </a:xfrm>
          <a:prstGeom prst="rect">
            <a:avLst/>
          </a:prstGeom>
          <a:noFill/>
          <a:ln/>
        </p:spPr>
        <p:txBody>
          <a:bodyPr wrap="none" lIns="0" tIns="0" rIns="0" bIns="0" rtlCol="0" anchor="t"/>
          <a:lstStyle/>
          <a:p>
            <a:pPr algn="l" indent="0" marL="0">
              <a:lnSpc>
                <a:spcPts val="3300"/>
              </a:lnSpc>
              <a:buNone/>
            </a:pPr>
            <a:r>
              <a:rPr lang="en-US" sz="2650" dirty="0">
                <a:solidFill>
                  <a:srgbClr val="CFD0D8"/>
                </a:solidFill>
                <a:latin typeface="Roboto Medium" pitchFamily="34" charset="0"/>
                <a:ea typeface="Roboto Medium" pitchFamily="34" charset="-122"/>
                <a:cs typeface="Roboto Medium" pitchFamily="34" charset="-120"/>
              </a:rPr>
              <a:t>Alternative Hypothesis (Hₐ)</a:t>
            </a:r>
            <a:endParaRPr lang="en-US" sz="2650" dirty="0"/>
          </a:p>
        </p:txBody>
      </p:sp>
      <p:sp>
        <p:nvSpPr>
          <p:cNvPr id="12" name="Text 10"/>
          <p:cNvSpPr/>
          <p:nvPr/>
        </p:nvSpPr>
        <p:spPr>
          <a:xfrm>
            <a:off x="7777282" y="3933349"/>
            <a:ext cx="5802035"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At least one group mean is different</a:t>
            </a:r>
            <a:endParaRPr lang="en-US" sz="1750" dirty="0"/>
          </a:p>
        </p:txBody>
      </p:sp>
      <p:sp>
        <p:nvSpPr>
          <p:cNvPr id="13" name="Text 11"/>
          <p:cNvSpPr/>
          <p:nvPr/>
        </p:nvSpPr>
        <p:spPr>
          <a:xfrm>
            <a:off x="7777282" y="4432340"/>
            <a:ext cx="5802035"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There is a significant difference between at least one pair of group means. The treatment or factor has a measurable effect.</a:t>
            </a:r>
            <a:endParaRPr lang="en-US" sz="1750" dirty="0"/>
          </a:p>
        </p:txBody>
      </p:sp>
      <p:sp>
        <p:nvSpPr>
          <p:cNvPr id="14" name="Text 12"/>
          <p:cNvSpPr/>
          <p:nvPr/>
        </p:nvSpPr>
        <p:spPr>
          <a:xfrm>
            <a:off x="7777282" y="5657136"/>
            <a:ext cx="5802035" cy="362903"/>
          </a:xfrm>
          <a:prstGeom prst="rect">
            <a:avLst/>
          </a:prstGeom>
          <a:noFill/>
          <a:ln/>
        </p:spPr>
        <p:txBody>
          <a:bodyPr wrap="none" lIns="0" tIns="0" rIns="0" bIns="0" rtlCol="0" anchor="t"/>
          <a:lstStyle/>
          <a:p>
            <a:pPr algn="l" indent="0" marL="0">
              <a:lnSpc>
                <a:spcPts val="2850"/>
              </a:lnSpc>
              <a:buNone/>
            </a:pPr>
            <a:r>
              <a:rPr lang="en-US" sz="1750" i="1" dirty="0">
                <a:solidFill>
                  <a:srgbClr val="CFD0D8"/>
                </a:solidFill>
                <a:latin typeface="Roboto" pitchFamily="34" charset="0"/>
                <a:ea typeface="Roboto" pitchFamily="34" charset="-122"/>
                <a:cs typeface="Roboto" pitchFamily="34" charset="-120"/>
              </a:rPr>
              <a:t>Example: Not all μ are equal</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067997" y="434816"/>
            <a:ext cx="5959316" cy="475298"/>
          </a:xfrm>
          <a:prstGeom prst="rect">
            <a:avLst/>
          </a:prstGeom>
          <a:noFill/>
          <a:ln/>
        </p:spPr>
        <p:txBody>
          <a:bodyPr wrap="none" lIns="0" tIns="0" rIns="0" bIns="0" rtlCol="0" anchor="t"/>
          <a:lstStyle/>
          <a:p>
            <a:pPr algn="l" indent="0" marL="0">
              <a:lnSpc>
                <a:spcPts val="3700"/>
              </a:lnSpc>
              <a:buNone/>
            </a:pPr>
            <a:r>
              <a:rPr lang="en-US" sz="2950" dirty="0">
                <a:solidFill>
                  <a:srgbClr val="FFFFFF"/>
                </a:solidFill>
                <a:latin typeface="Roboto Medium" pitchFamily="34" charset="0"/>
                <a:ea typeface="Roboto Medium" pitchFamily="34" charset="-122"/>
                <a:cs typeface="Roboto Medium" pitchFamily="34" charset="-120"/>
              </a:rPr>
              <a:t>How ANOVA Works: The F-Statistic</a:t>
            </a:r>
            <a:endParaRPr lang="en-US" sz="2950" dirty="0"/>
          </a:p>
        </p:txBody>
      </p:sp>
      <p:sp>
        <p:nvSpPr>
          <p:cNvPr id="3" name="Text 1"/>
          <p:cNvSpPr/>
          <p:nvPr/>
        </p:nvSpPr>
        <p:spPr>
          <a:xfrm>
            <a:off x="2067997" y="1686878"/>
            <a:ext cx="2550914" cy="285155"/>
          </a:xfrm>
          <a:prstGeom prst="rect">
            <a:avLst/>
          </a:prstGeom>
          <a:noFill/>
          <a:ln/>
        </p:spPr>
        <p:txBody>
          <a:bodyPr wrap="none" lIns="0" tIns="0" rIns="0" bIns="0" rtlCol="0" anchor="t"/>
          <a:lstStyle/>
          <a:p>
            <a:pPr algn="l" indent="0" marL="0">
              <a:lnSpc>
                <a:spcPts val="2200"/>
              </a:lnSpc>
              <a:buNone/>
            </a:pPr>
            <a:r>
              <a:rPr lang="en-US" sz="1750" dirty="0">
                <a:solidFill>
                  <a:srgbClr val="FFFFFF"/>
                </a:solidFill>
                <a:latin typeface="Roboto Medium" pitchFamily="34" charset="0"/>
                <a:ea typeface="Roboto Medium" pitchFamily="34" charset="-122"/>
                <a:cs typeface="Roboto Medium" pitchFamily="34" charset="-120"/>
              </a:rPr>
              <a:t>Between-Group Variation</a:t>
            </a:r>
            <a:endParaRPr lang="en-US" sz="1750" dirty="0"/>
          </a:p>
        </p:txBody>
      </p:sp>
      <p:sp>
        <p:nvSpPr>
          <p:cNvPr id="4" name="Text 2"/>
          <p:cNvSpPr/>
          <p:nvPr/>
        </p:nvSpPr>
        <p:spPr>
          <a:xfrm>
            <a:off x="2067997" y="2073950"/>
            <a:ext cx="6691432" cy="406241"/>
          </a:xfrm>
          <a:prstGeom prst="rect">
            <a:avLst/>
          </a:prstGeom>
          <a:noFill/>
          <a:ln/>
        </p:spPr>
        <p:txBody>
          <a:bodyPr wrap="square" lIns="0" tIns="0" rIns="0" bIns="0" rtlCol="0" anchor="t"/>
          <a:lstStyle/>
          <a:p>
            <a:pPr algn="l" indent="0" marL="0">
              <a:lnSpc>
                <a:spcPts val="1600"/>
              </a:lnSpc>
              <a:buNone/>
            </a:pPr>
            <a:r>
              <a:rPr lang="en-US" sz="1150" dirty="0">
                <a:solidFill>
                  <a:srgbClr val="CFD0D8"/>
                </a:solidFill>
                <a:latin typeface="Roboto" pitchFamily="34" charset="0"/>
                <a:ea typeface="Roboto" pitchFamily="34" charset="-122"/>
                <a:cs typeface="Roboto" pitchFamily="34" charset="-120"/>
              </a:rPr>
              <a:t>Measures how different the group means are from the overall grand mean. Larger differences suggest treatment effects.</a:t>
            </a:r>
            <a:endParaRPr lang="en-US" sz="1150" dirty="0"/>
          </a:p>
        </p:txBody>
      </p:sp>
      <p:pic>
        <p:nvPicPr>
          <p:cNvPr id="5" name="Image 0" descr="preencoded.png">    </p:cNvPr>
          <p:cNvPicPr>
            <a:picLocks noChangeAspect="1"/>
          </p:cNvPicPr>
          <p:nvPr/>
        </p:nvPicPr>
        <p:blipFill>
          <a:blip r:embed="rId1"/>
          <a:stretch>
            <a:fillRect/>
          </a:stretch>
        </p:blipFill>
        <p:spPr>
          <a:xfrm>
            <a:off x="2067997" y="2594848"/>
            <a:ext cx="6691432" cy="3734753"/>
          </a:xfrm>
          <a:prstGeom prst="rect">
            <a:avLst/>
          </a:prstGeom>
        </p:spPr>
      </p:pic>
      <p:sp>
        <p:nvSpPr>
          <p:cNvPr id="6" name="Text 3"/>
          <p:cNvSpPr/>
          <p:nvPr/>
        </p:nvSpPr>
        <p:spPr>
          <a:xfrm>
            <a:off x="9138047" y="1164908"/>
            <a:ext cx="2314932" cy="285155"/>
          </a:xfrm>
          <a:prstGeom prst="rect">
            <a:avLst/>
          </a:prstGeom>
          <a:noFill/>
          <a:ln/>
        </p:spPr>
        <p:txBody>
          <a:bodyPr wrap="none" lIns="0" tIns="0" rIns="0" bIns="0" rtlCol="0" anchor="t"/>
          <a:lstStyle/>
          <a:p>
            <a:pPr algn="l" indent="0" marL="0">
              <a:lnSpc>
                <a:spcPts val="2200"/>
              </a:lnSpc>
              <a:buNone/>
            </a:pPr>
            <a:r>
              <a:rPr lang="en-US" sz="1750" dirty="0">
                <a:solidFill>
                  <a:srgbClr val="FFFFFF"/>
                </a:solidFill>
                <a:latin typeface="Roboto Medium" pitchFamily="34" charset="0"/>
                <a:ea typeface="Roboto Medium" pitchFamily="34" charset="-122"/>
                <a:cs typeface="Roboto Medium" pitchFamily="34" charset="-120"/>
              </a:rPr>
              <a:t>Within-Group Variation</a:t>
            </a:r>
            <a:endParaRPr lang="en-US" sz="1750" dirty="0"/>
          </a:p>
        </p:txBody>
      </p:sp>
      <p:sp>
        <p:nvSpPr>
          <p:cNvPr id="7" name="Text 4"/>
          <p:cNvSpPr/>
          <p:nvPr/>
        </p:nvSpPr>
        <p:spPr>
          <a:xfrm>
            <a:off x="9138047" y="1551980"/>
            <a:ext cx="3431738" cy="609362"/>
          </a:xfrm>
          <a:prstGeom prst="rect">
            <a:avLst/>
          </a:prstGeom>
          <a:noFill/>
          <a:ln/>
        </p:spPr>
        <p:txBody>
          <a:bodyPr wrap="square" lIns="0" tIns="0" rIns="0" bIns="0" rtlCol="0" anchor="t"/>
          <a:lstStyle/>
          <a:p>
            <a:pPr algn="l" indent="0" marL="0">
              <a:lnSpc>
                <a:spcPts val="1600"/>
              </a:lnSpc>
              <a:buNone/>
            </a:pPr>
            <a:r>
              <a:rPr lang="en-US" sz="1150" dirty="0">
                <a:solidFill>
                  <a:srgbClr val="CFD0D8"/>
                </a:solidFill>
                <a:latin typeface="Roboto" pitchFamily="34" charset="0"/>
                <a:ea typeface="Roboto" pitchFamily="34" charset="-122"/>
                <a:cs typeface="Roboto" pitchFamily="34" charset="-120"/>
              </a:rPr>
              <a:t>Measures how much individual values vary within each group. Smaller variation means more reliable group estimates.</a:t>
            </a:r>
            <a:endParaRPr lang="en-US" sz="1150" dirty="0"/>
          </a:p>
        </p:txBody>
      </p:sp>
      <p:pic>
        <p:nvPicPr>
          <p:cNvPr id="8" name="Image 1" descr="preencoded.png">    </p:cNvPr>
          <p:cNvPicPr>
            <a:picLocks noChangeAspect="1"/>
          </p:cNvPicPr>
          <p:nvPr/>
        </p:nvPicPr>
        <p:blipFill>
          <a:blip r:embed="rId2"/>
          <a:stretch>
            <a:fillRect/>
          </a:stretch>
        </p:blipFill>
        <p:spPr>
          <a:xfrm>
            <a:off x="9138047" y="2275999"/>
            <a:ext cx="3431738" cy="4575572"/>
          </a:xfrm>
          <a:prstGeom prst="rect">
            <a:avLst/>
          </a:prstGeom>
        </p:spPr>
      </p:pic>
      <p:sp>
        <p:nvSpPr>
          <p:cNvPr id="9" name="Shape 5"/>
          <p:cNvSpPr/>
          <p:nvPr/>
        </p:nvSpPr>
        <p:spPr>
          <a:xfrm>
            <a:off x="2067997" y="7080885"/>
            <a:ext cx="10494288" cy="713780"/>
          </a:xfrm>
          <a:prstGeom prst="roundRect">
            <a:avLst>
              <a:gd name="adj" fmla="val 8949"/>
            </a:avLst>
          </a:prstGeom>
          <a:solidFill>
            <a:srgbClr val="0F163E"/>
          </a:solidFill>
          <a:ln/>
        </p:spPr>
      </p:sp>
      <p:pic>
        <p:nvPicPr>
          <p:cNvPr id="10" name="Image 2" descr="preencoded.png">    </p:cNvPr>
          <p:cNvPicPr>
            <a:picLocks noChangeAspect="1"/>
          </p:cNvPicPr>
          <p:nvPr/>
        </p:nvPicPr>
        <p:blipFill>
          <a:blip r:embed="rId3"/>
          <a:stretch>
            <a:fillRect/>
          </a:stretch>
        </p:blipFill>
        <p:spPr>
          <a:xfrm>
            <a:off x="2220039" y="7290197"/>
            <a:ext cx="190024" cy="152043"/>
          </a:xfrm>
          <a:prstGeom prst="rect">
            <a:avLst/>
          </a:prstGeom>
        </p:spPr>
      </p:pic>
      <p:sp>
        <p:nvSpPr>
          <p:cNvPr id="11" name="Text 6"/>
          <p:cNvSpPr/>
          <p:nvPr/>
        </p:nvSpPr>
        <p:spPr>
          <a:xfrm>
            <a:off x="2562106" y="7220783"/>
            <a:ext cx="9848136" cy="406241"/>
          </a:xfrm>
          <a:prstGeom prst="rect">
            <a:avLst/>
          </a:prstGeom>
          <a:noFill/>
          <a:ln/>
        </p:spPr>
        <p:txBody>
          <a:bodyPr wrap="square" lIns="0" tIns="0" rIns="0" bIns="0" rtlCol="0" anchor="t"/>
          <a:lstStyle/>
          <a:p>
            <a:pPr algn="l" indent="0" marL="0">
              <a:lnSpc>
                <a:spcPts val="1600"/>
              </a:lnSpc>
              <a:buNone/>
            </a:pPr>
            <a:r>
              <a:rPr lang="en-US" sz="1150" b="1" dirty="0">
                <a:solidFill>
                  <a:srgbClr val="FFFFFF"/>
                </a:solidFill>
                <a:latin typeface="Roboto" pitchFamily="34" charset="0"/>
                <a:ea typeface="Roboto" pitchFamily="34" charset="-122"/>
                <a:cs typeface="Roboto" pitchFamily="34" charset="-120"/>
              </a:rPr>
              <a:t>The F-statistic</a:t>
            </a:r>
            <a:pPr algn="l" indent="0" marL="0">
              <a:lnSpc>
                <a:spcPts val="1600"/>
              </a:lnSpc>
              <a:buNone/>
            </a:pPr>
            <a:r>
              <a:rPr lang="en-US" sz="1150" dirty="0">
                <a:solidFill>
                  <a:srgbClr val="FFFFFF"/>
                </a:solidFill>
                <a:latin typeface="Roboto" pitchFamily="34" charset="0"/>
                <a:ea typeface="Roboto" pitchFamily="34" charset="-122"/>
                <a:cs typeface="Roboto" pitchFamily="34" charset="-120"/>
              </a:rPr>
              <a:t> = (Between-group variation) / (Within-group variation). A large F-value indicates significant differences between groups relative to within-group variability.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841897"/>
            <a:ext cx="6037421"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Assumptions of ANOVA</a:t>
            </a:r>
            <a:endParaRPr lang="en-US" sz="4450" dirty="0"/>
          </a:p>
        </p:txBody>
      </p:sp>
      <p:sp>
        <p:nvSpPr>
          <p:cNvPr id="3" name="Text 1"/>
          <p:cNvSpPr/>
          <p:nvPr/>
        </p:nvSpPr>
        <p:spPr>
          <a:xfrm>
            <a:off x="793790" y="300430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For ANOVA results to be valid, three key assumptions must be met:</a:t>
            </a:r>
            <a:endParaRPr lang="en-US" sz="1750" dirty="0"/>
          </a:p>
        </p:txBody>
      </p:sp>
      <p:sp>
        <p:nvSpPr>
          <p:cNvPr id="4" name="Shape 2"/>
          <p:cNvSpPr/>
          <p:nvPr/>
        </p:nvSpPr>
        <p:spPr>
          <a:xfrm>
            <a:off x="793790" y="3622358"/>
            <a:ext cx="4196358" cy="2765227"/>
          </a:xfrm>
          <a:prstGeom prst="roundRect">
            <a:avLst>
              <a:gd name="adj" fmla="val 3445"/>
            </a:avLst>
          </a:prstGeom>
          <a:solidFill>
            <a:srgbClr val="182567"/>
          </a:solidFill>
          <a:ln w="7620">
            <a:solidFill>
              <a:srgbClr val="313E80"/>
            </a:solidFill>
            <a:prstDash val="solid"/>
          </a:ln>
        </p:spPr>
      </p:sp>
      <p:sp>
        <p:nvSpPr>
          <p:cNvPr id="5" name="Text 3"/>
          <p:cNvSpPr/>
          <p:nvPr/>
        </p:nvSpPr>
        <p:spPr>
          <a:xfrm>
            <a:off x="1028224" y="38567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1. Normality</a:t>
            </a:r>
            <a:endParaRPr lang="en-US" sz="2200" dirty="0"/>
          </a:p>
        </p:txBody>
      </p:sp>
      <p:sp>
        <p:nvSpPr>
          <p:cNvPr id="6" name="Text 4"/>
          <p:cNvSpPr/>
          <p:nvPr/>
        </p:nvSpPr>
        <p:spPr>
          <a:xfrm>
            <a:off x="1028224" y="4347210"/>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Each group's data should be approximately normally distributed. This ensures the F-statistic follows the expected distribution.</a:t>
            </a:r>
            <a:endParaRPr lang="en-US" sz="1750" dirty="0"/>
          </a:p>
        </p:txBody>
      </p:sp>
      <p:sp>
        <p:nvSpPr>
          <p:cNvPr id="7" name="Shape 5"/>
          <p:cNvSpPr/>
          <p:nvPr/>
        </p:nvSpPr>
        <p:spPr>
          <a:xfrm>
            <a:off x="5216962" y="3622358"/>
            <a:ext cx="4196358" cy="2765227"/>
          </a:xfrm>
          <a:prstGeom prst="roundRect">
            <a:avLst>
              <a:gd name="adj" fmla="val 3445"/>
            </a:avLst>
          </a:prstGeom>
          <a:solidFill>
            <a:srgbClr val="182567"/>
          </a:solidFill>
          <a:ln w="7620">
            <a:solidFill>
              <a:srgbClr val="313E80"/>
            </a:solidFill>
            <a:prstDash val="solid"/>
          </a:ln>
        </p:spPr>
      </p:sp>
      <p:sp>
        <p:nvSpPr>
          <p:cNvPr id="8" name="Text 6"/>
          <p:cNvSpPr/>
          <p:nvPr/>
        </p:nvSpPr>
        <p:spPr>
          <a:xfrm>
            <a:off x="5451396" y="3856792"/>
            <a:ext cx="3727490" cy="708660"/>
          </a:xfrm>
          <a:prstGeom prst="rect">
            <a:avLst/>
          </a:prstGeom>
          <a:noFill/>
          <a:ln/>
        </p:spPr>
        <p:txBody>
          <a:bodyPr wrap="squar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2. Equal Variance (Homogeneity)</a:t>
            </a:r>
            <a:endParaRPr lang="en-US" sz="2200" dirty="0"/>
          </a:p>
        </p:txBody>
      </p:sp>
      <p:sp>
        <p:nvSpPr>
          <p:cNvPr id="9" name="Text 7"/>
          <p:cNvSpPr/>
          <p:nvPr/>
        </p:nvSpPr>
        <p:spPr>
          <a:xfrm>
            <a:off x="5451396" y="4701540"/>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All groups should have similar variances. This means the spread of data points should be roughly the same across all groups.</a:t>
            </a:r>
            <a:endParaRPr lang="en-US" sz="1750" dirty="0"/>
          </a:p>
        </p:txBody>
      </p:sp>
      <p:sp>
        <p:nvSpPr>
          <p:cNvPr id="10" name="Shape 8"/>
          <p:cNvSpPr/>
          <p:nvPr/>
        </p:nvSpPr>
        <p:spPr>
          <a:xfrm>
            <a:off x="9640133" y="3622358"/>
            <a:ext cx="4196358" cy="2765227"/>
          </a:xfrm>
          <a:prstGeom prst="roundRect">
            <a:avLst>
              <a:gd name="adj" fmla="val 3445"/>
            </a:avLst>
          </a:prstGeom>
          <a:solidFill>
            <a:srgbClr val="182567"/>
          </a:solidFill>
          <a:ln w="7620">
            <a:solidFill>
              <a:srgbClr val="313E80"/>
            </a:solidFill>
            <a:prstDash val="solid"/>
          </a:ln>
        </p:spPr>
      </p:sp>
      <p:sp>
        <p:nvSpPr>
          <p:cNvPr id="11" name="Text 9"/>
          <p:cNvSpPr/>
          <p:nvPr/>
        </p:nvSpPr>
        <p:spPr>
          <a:xfrm>
            <a:off x="9874568" y="38567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3. Independence</a:t>
            </a:r>
            <a:endParaRPr lang="en-US" sz="2200" dirty="0"/>
          </a:p>
        </p:txBody>
      </p:sp>
      <p:sp>
        <p:nvSpPr>
          <p:cNvPr id="12" name="Text 10"/>
          <p:cNvSpPr/>
          <p:nvPr/>
        </p:nvSpPr>
        <p:spPr>
          <a:xfrm>
            <a:off x="9874568" y="4347210"/>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Observations must be independent of each other. This means one participant's data doesn't influence another's.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14795"/>
            <a:ext cx="8769906"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Real-World Applications of ANOVA</a:t>
            </a:r>
            <a:endParaRPr lang="en-US" sz="4450" dirty="0"/>
          </a:p>
        </p:txBody>
      </p:sp>
      <p:pic>
        <p:nvPicPr>
          <p:cNvPr id="3" name="Image 0" descr="preencoded.png">    </p:cNvPr>
          <p:cNvPicPr>
            <a:picLocks noChangeAspect="1"/>
          </p:cNvPicPr>
          <p:nvPr/>
        </p:nvPicPr>
        <p:blipFill>
          <a:blip r:embed="rId1"/>
          <a:stretch>
            <a:fillRect/>
          </a:stretch>
        </p:blipFill>
        <p:spPr>
          <a:xfrm>
            <a:off x="793790" y="2377202"/>
            <a:ext cx="2411968" cy="2411968"/>
          </a:xfrm>
          <a:prstGeom prst="rect">
            <a:avLst/>
          </a:prstGeom>
        </p:spPr>
      </p:pic>
      <p:sp>
        <p:nvSpPr>
          <p:cNvPr id="4" name="Text 1"/>
          <p:cNvSpPr/>
          <p:nvPr/>
        </p:nvSpPr>
        <p:spPr>
          <a:xfrm>
            <a:off x="793790" y="5072658"/>
            <a:ext cx="2863334"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Healthcare &amp; Medicine</a:t>
            </a:r>
            <a:endParaRPr lang="en-US" sz="2200" dirty="0"/>
          </a:p>
        </p:txBody>
      </p:sp>
      <p:sp>
        <p:nvSpPr>
          <p:cNvPr id="5" name="Text 2"/>
          <p:cNvSpPr/>
          <p:nvPr/>
        </p:nvSpPr>
        <p:spPr>
          <a:xfrm>
            <a:off x="793790" y="5563076"/>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Testing effectiveness of different drug treatments, comparing recovery times across therapies, or evaluating surgical techniques</a:t>
            </a:r>
            <a:endParaRPr lang="en-US" sz="1750" dirty="0"/>
          </a:p>
        </p:txBody>
      </p:sp>
      <p:pic>
        <p:nvPicPr>
          <p:cNvPr id="6" name="Image 1" descr="preencoded.png">    </p:cNvPr>
          <p:cNvPicPr>
            <a:picLocks noChangeAspect="1"/>
          </p:cNvPicPr>
          <p:nvPr/>
        </p:nvPicPr>
        <p:blipFill>
          <a:blip r:embed="rId2"/>
          <a:stretch>
            <a:fillRect/>
          </a:stretch>
        </p:blipFill>
        <p:spPr>
          <a:xfrm>
            <a:off x="5235893" y="2377202"/>
            <a:ext cx="2411968" cy="2411968"/>
          </a:xfrm>
          <a:prstGeom prst="rect">
            <a:avLst/>
          </a:prstGeom>
        </p:spPr>
      </p:pic>
      <p:sp>
        <p:nvSpPr>
          <p:cNvPr id="7" name="Text 3"/>
          <p:cNvSpPr/>
          <p:nvPr/>
        </p:nvSpPr>
        <p:spPr>
          <a:xfrm>
            <a:off x="5235893" y="50726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Business &amp; Marketing</a:t>
            </a:r>
            <a:endParaRPr lang="en-US" sz="2200" dirty="0"/>
          </a:p>
        </p:txBody>
      </p:sp>
      <p:sp>
        <p:nvSpPr>
          <p:cNvPr id="8" name="Text 4"/>
          <p:cNvSpPr/>
          <p:nvPr/>
        </p:nvSpPr>
        <p:spPr>
          <a:xfrm>
            <a:off x="5235893" y="5563076"/>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Comparing sales performance across regions, testing different advertising campaigns, or evaluating customer satisfaction by product line</a:t>
            </a:r>
            <a:endParaRPr lang="en-US" sz="1750" dirty="0"/>
          </a:p>
        </p:txBody>
      </p:sp>
      <p:pic>
        <p:nvPicPr>
          <p:cNvPr id="9" name="Image 2" descr="preencoded.png">    </p:cNvPr>
          <p:cNvPicPr>
            <a:picLocks noChangeAspect="1"/>
          </p:cNvPicPr>
          <p:nvPr/>
        </p:nvPicPr>
        <p:blipFill>
          <a:blip r:embed="rId3"/>
          <a:stretch>
            <a:fillRect/>
          </a:stretch>
        </p:blipFill>
        <p:spPr>
          <a:xfrm>
            <a:off x="9677995" y="2377202"/>
            <a:ext cx="2411968" cy="2411968"/>
          </a:xfrm>
          <a:prstGeom prst="rect">
            <a:avLst/>
          </a:prstGeom>
        </p:spPr>
      </p:pic>
      <p:sp>
        <p:nvSpPr>
          <p:cNvPr id="10" name="Text 5"/>
          <p:cNvSpPr/>
          <p:nvPr/>
        </p:nvSpPr>
        <p:spPr>
          <a:xfrm>
            <a:off x="9677995" y="50726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Agriculture &amp; Science</a:t>
            </a:r>
            <a:endParaRPr lang="en-US" sz="2200" dirty="0"/>
          </a:p>
        </p:txBody>
      </p:sp>
      <p:sp>
        <p:nvSpPr>
          <p:cNvPr id="11" name="Text 6"/>
          <p:cNvSpPr/>
          <p:nvPr/>
        </p:nvSpPr>
        <p:spPr>
          <a:xfrm>
            <a:off x="9677995" y="5563076"/>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Evaluating crop yields with different fertilizers, comparing growth rates under various conditions, or testing environmental interventions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19550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Key Takeaways</a:t>
            </a:r>
            <a:endParaRPr lang="en-US" sz="4450" dirty="0"/>
          </a:p>
        </p:txBody>
      </p:sp>
      <p:sp>
        <p:nvSpPr>
          <p:cNvPr id="4" name="Shape 1"/>
          <p:cNvSpPr/>
          <p:nvPr/>
        </p:nvSpPr>
        <p:spPr>
          <a:xfrm>
            <a:off x="793790" y="2244447"/>
            <a:ext cx="510302" cy="510302"/>
          </a:xfrm>
          <a:prstGeom prst="roundRect">
            <a:avLst>
              <a:gd name="adj" fmla="val 18669"/>
            </a:avLst>
          </a:prstGeom>
          <a:solidFill>
            <a:srgbClr val="182567"/>
          </a:solidFill>
          <a:ln w="7620">
            <a:solidFill>
              <a:srgbClr val="313E80"/>
            </a:solidFill>
            <a:prstDash val="solid"/>
          </a:ln>
        </p:spPr>
      </p:sp>
      <p:sp>
        <p:nvSpPr>
          <p:cNvPr id="5" name="Text 2"/>
          <p:cNvSpPr/>
          <p:nvPr/>
        </p:nvSpPr>
        <p:spPr>
          <a:xfrm>
            <a:off x="1530906" y="23223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Efficient Comparison</a:t>
            </a:r>
            <a:endParaRPr lang="en-US" sz="2200" dirty="0"/>
          </a:p>
        </p:txBody>
      </p:sp>
      <p:sp>
        <p:nvSpPr>
          <p:cNvPr id="6" name="Text 3"/>
          <p:cNvSpPr/>
          <p:nvPr/>
        </p:nvSpPr>
        <p:spPr>
          <a:xfrm>
            <a:off x="1530906" y="2812733"/>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ANOVA allows testing multiple groups simultaneously without inflating Type I error rates from multiple t-tests</a:t>
            </a:r>
            <a:endParaRPr lang="en-US" sz="1750" dirty="0"/>
          </a:p>
        </p:txBody>
      </p:sp>
      <p:sp>
        <p:nvSpPr>
          <p:cNvPr id="7" name="Shape 4"/>
          <p:cNvSpPr/>
          <p:nvPr/>
        </p:nvSpPr>
        <p:spPr>
          <a:xfrm>
            <a:off x="793790" y="3992166"/>
            <a:ext cx="510302" cy="510302"/>
          </a:xfrm>
          <a:prstGeom prst="roundRect">
            <a:avLst>
              <a:gd name="adj" fmla="val 18669"/>
            </a:avLst>
          </a:prstGeom>
          <a:solidFill>
            <a:srgbClr val="182567"/>
          </a:solidFill>
          <a:ln w="7620">
            <a:solidFill>
              <a:srgbClr val="313E80"/>
            </a:solidFill>
            <a:prstDash val="solid"/>
          </a:ln>
        </p:spPr>
      </p:sp>
      <p:sp>
        <p:nvSpPr>
          <p:cNvPr id="8" name="Text 5"/>
          <p:cNvSpPr/>
          <p:nvPr/>
        </p:nvSpPr>
        <p:spPr>
          <a:xfrm>
            <a:off x="1530906" y="40700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Variation Analysis</a:t>
            </a:r>
            <a:endParaRPr lang="en-US" sz="2200" dirty="0"/>
          </a:p>
        </p:txBody>
      </p:sp>
      <p:sp>
        <p:nvSpPr>
          <p:cNvPr id="9" name="Text 6"/>
          <p:cNvSpPr/>
          <p:nvPr/>
        </p:nvSpPr>
        <p:spPr>
          <a:xfrm>
            <a:off x="1530906" y="4560451"/>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It separates total variation into between-group and within-group components to identify meaningful differences</a:t>
            </a:r>
            <a:endParaRPr lang="en-US" sz="1750" dirty="0"/>
          </a:p>
        </p:txBody>
      </p:sp>
      <p:sp>
        <p:nvSpPr>
          <p:cNvPr id="10" name="Shape 7"/>
          <p:cNvSpPr/>
          <p:nvPr/>
        </p:nvSpPr>
        <p:spPr>
          <a:xfrm>
            <a:off x="793790" y="5739884"/>
            <a:ext cx="510302" cy="510302"/>
          </a:xfrm>
          <a:prstGeom prst="roundRect">
            <a:avLst>
              <a:gd name="adj" fmla="val 18669"/>
            </a:avLst>
          </a:prstGeom>
          <a:solidFill>
            <a:srgbClr val="182567"/>
          </a:solidFill>
          <a:ln w="7620">
            <a:solidFill>
              <a:srgbClr val="313E80"/>
            </a:solidFill>
            <a:prstDash val="solid"/>
          </a:ln>
        </p:spPr>
      </p:sp>
      <p:sp>
        <p:nvSpPr>
          <p:cNvPr id="11" name="Text 8"/>
          <p:cNvSpPr/>
          <p:nvPr/>
        </p:nvSpPr>
        <p:spPr>
          <a:xfrm>
            <a:off x="1530906" y="581775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Wide Applicability</a:t>
            </a:r>
            <a:endParaRPr lang="en-US" sz="2200" dirty="0"/>
          </a:p>
        </p:txBody>
      </p:sp>
      <p:sp>
        <p:nvSpPr>
          <p:cNvPr id="12" name="Text 9"/>
          <p:cNvSpPr/>
          <p:nvPr/>
        </p:nvSpPr>
        <p:spPr>
          <a:xfrm>
            <a:off x="1530906" y="6308169"/>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Used across research, business, healthcare, and education to make data-driven decisions about treatments and interventions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12799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Thank You!</a:t>
            </a:r>
            <a:endParaRPr lang="en-US" sz="4450" dirty="0"/>
          </a:p>
        </p:txBody>
      </p:sp>
      <p:sp>
        <p:nvSpPr>
          <p:cNvPr id="4" name="Text 1"/>
          <p:cNvSpPr/>
          <p:nvPr/>
        </p:nvSpPr>
        <p:spPr>
          <a:xfrm>
            <a:off x="793790" y="2176939"/>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Understanding ANOVA opens doors to advanced statistical analysis and research methodology.</a:t>
            </a:r>
            <a:endParaRPr lang="en-US" sz="1750" dirty="0"/>
          </a:p>
        </p:txBody>
      </p:sp>
      <p:sp>
        <p:nvSpPr>
          <p:cNvPr id="5" name="Shape 2"/>
          <p:cNvSpPr/>
          <p:nvPr/>
        </p:nvSpPr>
        <p:spPr>
          <a:xfrm>
            <a:off x="793790" y="3157895"/>
            <a:ext cx="7556421" cy="1367909"/>
          </a:xfrm>
          <a:prstGeom prst="roundRect">
            <a:avLst>
              <a:gd name="adj" fmla="val 6964"/>
            </a:avLst>
          </a:prstGeom>
          <a:solidFill>
            <a:srgbClr val="000018">
              <a:alpha val="95000"/>
            </a:srgbClr>
          </a:solidFill>
          <a:ln w="30480">
            <a:solidFill>
              <a:srgbClr val="313E80"/>
            </a:solidFill>
            <a:prstDash val="solid"/>
          </a:ln>
        </p:spPr>
      </p:sp>
      <p:sp>
        <p:nvSpPr>
          <p:cNvPr id="6" name="Text 3"/>
          <p:cNvSpPr/>
          <p:nvPr/>
        </p:nvSpPr>
        <p:spPr>
          <a:xfrm>
            <a:off x="1051084" y="34151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Questions?</a:t>
            </a:r>
            <a:endParaRPr lang="en-US" sz="2200" dirty="0"/>
          </a:p>
        </p:txBody>
      </p:sp>
      <p:sp>
        <p:nvSpPr>
          <p:cNvPr id="7" name="Text 4"/>
          <p:cNvSpPr/>
          <p:nvPr/>
        </p:nvSpPr>
        <p:spPr>
          <a:xfrm>
            <a:off x="1051084" y="3905607"/>
            <a:ext cx="7041832"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Let's discuss any concepts you'd like to explore further</a:t>
            </a:r>
            <a:endParaRPr lang="en-US" sz="1750" dirty="0"/>
          </a:p>
        </p:txBody>
      </p:sp>
      <p:sp>
        <p:nvSpPr>
          <p:cNvPr id="8" name="Shape 5"/>
          <p:cNvSpPr/>
          <p:nvPr/>
        </p:nvSpPr>
        <p:spPr>
          <a:xfrm>
            <a:off x="793790" y="4752618"/>
            <a:ext cx="7556421" cy="1730812"/>
          </a:xfrm>
          <a:prstGeom prst="roundRect">
            <a:avLst>
              <a:gd name="adj" fmla="val 5504"/>
            </a:avLst>
          </a:prstGeom>
          <a:solidFill>
            <a:srgbClr val="000018">
              <a:alpha val="95000"/>
            </a:srgbClr>
          </a:solidFill>
          <a:ln w="30480">
            <a:solidFill>
              <a:srgbClr val="313E80"/>
            </a:solidFill>
            <a:prstDash val="solid"/>
          </a:ln>
        </p:spPr>
      </p:sp>
      <p:sp>
        <p:nvSpPr>
          <p:cNvPr id="9" name="Text 6"/>
          <p:cNvSpPr/>
          <p:nvPr/>
        </p:nvSpPr>
        <p:spPr>
          <a:xfrm>
            <a:off x="1051084" y="500991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Next Steps</a:t>
            </a:r>
            <a:endParaRPr lang="en-US" sz="2200" dirty="0"/>
          </a:p>
        </p:txBody>
      </p:sp>
      <p:sp>
        <p:nvSpPr>
          <p:cNvPr id="10" name="Text 7"/>
          <p:cNvSpPr/>
          <p:nvPr/>
        </p:nvSpPr>
        <p:spPr>
          <a:xfrm>
            <a:off x="1051084" y="5500330"/>
            <a:ext cx="7041832"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Practice with real datasets and consider post-hoc tests for detailed comparisons</a:t>
            </a:r>
            <a:endParaRPr lang="en-US" sz="1750" dirty="0"/>
          </a:p>
        </p:txBody>
      </p:sp>
      <p:sp>
        <p:nvSpPr>
          <p:cNvPr id="11" name="Text 8"/>
          <p:cNvSpPr/>
          <p:nvPr/>
        </p:nvSpPr>
        <p:spPr>
          <a:xfrm>
            <a:off x="793790" y="6738580"/>
            <a:ext cx="7556421" cy="362903"/>
          </a:xfrm>
          <a:prstGeom prst="rect">
            <a:avLst/>
          </a:prstGeom>
          <a:noFill/>
          <a:ln/>
        </p:spPr>
        <p:txBody>
          <a:bodyPr wrap="none" lIns="0" tIns="0" rIns="0" bIns="0" rtlCol="0" anchor="t"/>
          <a:lstStyle/>
          <a:p>
            <a:pPr algn="l" indent="0" marL="0">
              <a:lnSpc>
                <a:spcPts val="2850"/>
              </a:lnSpc>
              <a:buNone/>
            </a:pPr>
            <a:r>
              <a:rPr lang="en-US" sz="1750" i="1" dirty="0">
                <a:solidFill>
                  <a:srgbClr val="CFD0D8"/>
                </a:solidFill>
                <a:latin typeface="Roboto" pitchFamily="34" charset="0"/>
                <a:ea typeface="Roboto" pitchFamily="34" charset="-122"/>
                <a:cs typeface="Roboto" pitchFamily="34" charset="-120"/>
              </a:rPr>
              <a:t>ANOVA: Your tool for comparing multiple group means with confidence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2026-03-29T15:12:51Z</dcterms:created>
  <dcterms:modified xsi:type="dcterms:W3CDTF">2026-03-29T15:12:51Z</dcterms:modified>
</cp:coreProperties>
</file>